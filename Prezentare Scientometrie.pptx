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3.xml" ContentType="application/xml"/>
  <Override PartName="/docMetadata/LabelInfo.xml" ContentType="application/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_rels/slideLayout5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media/image1.png" ContentType="image/png"/>
  <Override PartName="/ppt/media/image9.png" ContentType="image/png"/>
  <Override PartName="/ppt/media/image8.jpeg" ContentType="image/jpeg"/>
  <Override PartName="/ppt/media/image2.png" ContentType="image/png"/>
  <Override PartName="/ppt/media/image12.jpeg" ContentType="image/jpeg"/>
  <Override PartName="/ppt/media/image7.jpeg" ContentType="image/jpeg"/>
  <Override PartName="/ppt/media/image3.png" ContentType="image/png"/>
  <Override PartName="/ppt/media/image5.jpeg" ContentType="image/jpeg"/>
  <Override PartName="/ppt/media/image4.png" ContentType="image/png"/>
  <Override PartName="/ppt/media/image6.png" ContentType="image/png"/>
  <Override PartName="/ppt/media/image10.png" ContentType="image/png"/>
  <Override PartName="/ppt/media/image11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ro-RO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ro-R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o-RO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o-R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o-RO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o-R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o-RO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o-R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C2D841-2135-4A8B-9B13-D4C5E46C643F}" type="slidenum">
              <a:rPr b="0" lang="ro-RO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97485F-3DFD-4224-BDAF-5AA6F56FCD6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11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EBA3E9-B464-48C5-AD2C-1CE5247251E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11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69F03B-B71D-4001-AACC-D20DB552A73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11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B41290-1A83-4904-9E64-D50D67DF16E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11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658AAA-9A5E-41D5-A49B-6C01F058100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5C9CE7-F03A-4DC7-A7A8-18975ABCBB5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D69D38-F876-4E39-8205-5F422A982CF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D5665F-DC86-419E-A61B-000E4FFB2A6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71E53F-6692-4295-A399-37D16372D89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o-R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05FF33-875A-430E-8061-662F4FB8FB4A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058531-B13A-46A0-AD88-565FE23A01C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B5C20C-B558-47DF-8015-8C2F66EBDCAC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5D1E0B-44E1-46A9-AA7C-89B5EFA332FF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4135E0-6CB6-4C24-A53F-B735BF1B2D5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310158-D737-42C0-9156-CB3171F9F42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80C916-71E6-4B30-A3B4-8DD20D9519A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7DE06B-DB1C-421C-8D54-F19468682B5D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7C582E-BBD6-414A-AA41-0CDA779650E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7F8C11-6DE9-46B6-88F3-1EC542ECBC2B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036D02-1BA8-4B28-8380-6C799A848E26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FF3121-1C1B-4361-885B-1B5E48A7F949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A51E6BB-9033-4ABA-9EEF-39B5D24AB3D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ED89DDF-3D0F-4E92-9099-B3BC4F54D3DB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710D0A4-2F8E-43A2-866C-0CFD9412304E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A01026-E12A-4A2D-BCB2-D2C348A2C73C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0125A3F-89FF-4A87-B6C0-5A13C4CD12EF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04A4D79-0124-45DE-B626-43FCD1FA7652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4FF289D-F985-4246-B292-00D9FF06B125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E137164-BDE5-4873-8B94-B151E1D24E4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6AA6341-A307-4580-B744-9C33A7EEED20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A72ED7E-E008-4B9E-967B-EF53826F7960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18613FE-66B4-4595-9D7B-1A379CAB409C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E056CCC-0C76-4675-9ED6-9E2E43506B85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081FE-F2C8-464C-A60E-CFC93CE7817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1CC9A4-50E2-43B0-8891-503E768BDDEE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C5CAFA-29E5-4EB7-9E72-1D53067103D5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3E754C-FF3E-481E-8250-7FEA65095942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9EDC94-7E3B-41EF-9056-812B9947794A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B71965-BCA2-45A6-8062-EE9EC2EB83DE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04564A-15B5-4082-8573-C8C300647D9E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CD21C7-D233-4BCB-B4C6-F6903970664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29F04-17B6-4B84-BB63-00806B63766B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08A29B-EC4E-4E99-A6D4-8DDD210150F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D534D-BAB4-4AAB-A302-BC27AB58666F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99E1AA-2668-4C30-841A-B6496BD702EF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2584DC-5518-41B8-83BC-D0872AAC8696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446A34-8731-4638-B454-6DABA1D83B49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D5F0F22-1849-4205-A584-6D234A59E8EC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BDCF34D-00C1-4B63-B0BB-C713004DBAB3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495BEF-0CC8-4FE6-8140-010A62BD7A4A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21E1D5-69EA-4FEE-8DE0-38F14DAE5F96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6D6D8B7-FDCD-45C1-9552-EBE48FB258A5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D84A57-482B-4F6D-A652-90E1000A8DFB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0BDA845-8ADA-4AD2-A1AB-25A16DEE4897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C1DF4C0-B6AE-462B-AB44-A23BD9C8C6F5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0453BE5-E57A-467B-97ED-659FFAEBA5AC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38FDD38-2259-4E08-9BEF-72B0E25AE162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FB00E2D-4E29-46D6-9872-9A4DEDAEE1C5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1FFBDE7-6D1D-47BD-9AF1-F87D0C789B72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4698CFC-0299-4E37-B913-6A0B60B7EB8F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7D94AEA-17E7-4B16-959F-8F11DF596A16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2D367B5-77E3-4296-A244-69547BE36142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E46C9AF-49CF-4348-9D18-F5602FB1D843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419495A-58F5-4C3D-9283-09F828639424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6CC2D69-B6B0-4013-9A91-CFC423B8CAA0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68754AD-3AC5-4264-86A9-BE8693DEE23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3D610A9-BE80-439C-937D-87601CB70AD9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32E467B-248F-41B1-B45F-EA8B69C762D1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5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EF96B72-9F82-4638-AF57-074784F85349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F0E52E-CB15-40B5-8483-6B492BC70943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E657B54-EDFD-40B6-B7B3-3B9529011BCE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63E83E7-10E3-4473-A540-59BAD27CD74A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02768E7-2470-46D9-8888-81974C6B4CB9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5F10CC2-7361-4F93-8806-1802ABCD9132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515A78-838A-4897-B7CC-29D82A56BAC3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1380899-98D0-4CCB-B38B-38CC4681E79D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FF1F9F-52F3-46E0-9B87-34E34BF33AA0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F02E3D2-BF55-4637-9634-36C37F609C8A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72C1A29-F2F3-460E-BFBF-37A4B1796B35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21C6756-6117-46E1-99F5-DD70F8B4532A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0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0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6DCBBD8-E1D1-4FB0-A6BC-7ECDCA77903E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7A469FE-D95E-49F1-B009-C33E2425FA31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71C12D0-D4C9-410F-B5DF-F113C15B6555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5991675-3E43-45FE-B2A7-5FB02C9A1E28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6372400-6BFF-4E9B-B777-AE31328856F1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3609214-60D9-4942-A809-1EAAC609605A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A0A61C0-494F-477F-8F59-4E448940D98C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1A33DB8-432D-4D43-96B6-0F6CB0831BF5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E99ED9-4744-4437-A2BA-58C71BA42D88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55476BC-5C1B-4713-8E87-636754DABFC7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C863767-442F-422E-B0F3-07B980EC0923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EFAAC0E-E390-41A8-910D-C108C3425CBF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4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357C60B-8B63-44FB-A053-D0192A47721E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2054C3E-25B9-4420-B12D-39352328808D}" type="slidenum">
              <a:t>&lt;#&gt;</a:t>
            </a:fld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6DDAFB8-3C1D-4D9E-826B-F9669A2ECE41}" type="slidenum">
              <a:t>&lt;#&gt;</a:t>
            </a:fld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DAC616C1-6D86-46B4-BDC9-831C41A15540}" type="slidenum">
              <a:t>&lt;#&gt;</a:t>
            </a:fld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C112139-9B62-4694-81DC-8A543B7178FB}" type="slidenum">
              <a:t>&lt;#&gt;</a:t>
            </a:fld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74A693E-64E9-42F4-9C59-D556BAFEB143}" type="slidenum">
              <a:t>&lt;#&gt;</a:t>
            </a:fld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ubTitle"/>
          </p:nvPr>
        </p:nvSpPr>
        <p:spPr>
          <a:xfrm>
            <a:off x="4267080" y="1615680"/>
            <a:ext cx="4179240" cy="70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5D783BE6-6BD7-4A7E-A5BE-28DA4C2FEDE5}" type="slidenum">
              <a:t>&lt;#&gt;</a:t>
            </a:fld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8CE419B4-B2F5-418C-AA34-1F26AB417FE1}" type="slidenum">
              <a:t>&lt;#&gt;</a:t>
            </a:fld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60481EA-4C07-4823-A02A-D2D62D5F8712}" type="slidenum">
              <a:t>&lt;#&gt;</a:t>
            </a:fld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94030CB8-2699-4C10-AC60-6045211F26C3}" type="slidenum">
              <a:t>&lt;#&gt;</a:t>
            </a:fld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54004AFE-BCA2-4FD5-8E11-2BD2B169644A}" type="slidenum">
              <a:t>&lt;#&gt;</a:t>
            </a:fld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2698BAF-6997-4309-BC3B-0154047DC383}" type="slidenum">
              <a:t>&lt;#&gt;</a:t>
            </a:fld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8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1538833-C9C8-49D8-ACB8-B5A7583DDE2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41840" y="3329640"/>
            <a:ext cx="494136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" name="Graphic 7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9357" t="23648" r="0" b="0"/>
          <a:stretch/>
        </p:blipFill>
        <p:spPr>
          <a:xfrm>
            <a:off x="0" y="0"/>
            <a:ext cx="9487800" cy="50540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Tenorite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22280" y="2682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322280" y="2763000"/>
            <a:ext cx="7287840" cy="340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43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grpSp>
        <p:nvGrpSpPr>
          <p:cNvPr id="41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96120" y="-25200"/>
            <a:ext cx="3095640" cy="6883200"/>
            <a:chOff x="9096120" y="-25200"/>
            <a:chExt cx="3095640" cy="6883200"/>
          </a:xfrm>
        </p:grpSpPr>
        <p:cxnSp>
          <p:nvCxnSpPr>
            <p:cNvPr id="42" name="Straight Connector 9"/>
            <p:cNvCxnSpPr/>
            <p:nvPr/>
          </p:nvCxnSpPr>
          <p:spPr>
            <a:xfrm>
              <a:off x="9096120" y="1496880"/>
              <a:ext cx="3096000" cy="3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43" name="Straight Connector 10"/>
            <p:cNvCxnSpPr/>
            <p:nvPr/>
          </p:nvCxnSpPr>
          <p:spPr>
            <a:xfrm flipH="1">
              <a:off x="9381600" y="-25200"/>
              <a:ext cx="2810520" cy="6883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cxnSp>
        <p:nvCxnSpPr>
          <p:cNvPr id="44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0" y="-25200"/>
            <a:ext cx="1210680" cy="2048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5" name="PlaceHolder 3"/>
          <p:cNvSpPr>
            <a:spLocks noGrp="1"/>
          </p:cNvSpPr>
          <p:nvPr>
            <p:ph type="ftr" idx="1"/>
          </p:nvPr>
        </p:nvSpPr>
        <p:spPr>
          <a:xfrm>
            <a:off x="133344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44DA23-0BA0-4EB5-9A82-0BDC7637BFAE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39434" t="20279" r="0" b="22672"/>
          <a:stretch/>
        </p:blipFill>
        <p:spPr>
          <a:xfrm>
            <a:off x="25920" y="0"/>
            <a:ext cx="4093200" cy="391212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933640" y="568800"/>
            <a:ext cx="8419680" cy="178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2933640" y="2797200"/>
            <a:ext cx="3924000" cy="46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2933640" y="3251520"/>
            <a:ext cx="3943440" cy="32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43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7410240" y="2797200"/>
            <a:ext cx="3943440" cy="46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7410240" y="3251520"/>
            <a:ext cx="3943440" cy="32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43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ftr" idx="3"/>
          </p:nvPr>
        </p:nvSpPr>
        <p:spPr>
          <a:xfrm>
            <a:off x="296928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sldNum" idx="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46671F-483C-4446-88FA-FB8029DB71F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341000" y="558720"/>
            <a:ext cx="9952920" cy="178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grpSp>
        <p:nvGrpSpPr>
          <p:cNvPr id="128" name="Group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29800" y="0"/>
            <a:ext cx="7761960" cy="2754720"/>
            <a:chOff x="4429800" y="0"/>
            <a:chExt cx="7761960" cy="2754720"/>
          </a:xfrm>
        </p:grpSpPr>
        <p:cxnSp>
          <p:nvCxnSpPr>
            <p:cNvPr id="129" name="Straight Connector 10"/>
            <p:cNvCxnSpPr/>
            <p:nvPr/>
          </p:nvCxnSpPr>
          <p:spPr>
            <a:xfrm flipH="1" flipV="1">
              <a:off x="4429800" y="0"/>
              <a:ext cx="7762320" cy="12178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130" name="Straight Connector 11"/>
            <p:cNvCxnSpPr/>
            <p:nvPr/>
          </p:nvCxnSpPr>
          <p:spPr>
            <a:xfrm>
              <a:off x="11065680" y="0"/>
              <a:ext cx="1126440" cy="275508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1341000" y="2961000"/>
            <a:ext cx="2722680" cy="3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1341000" y="3391920"/>
            <a:ext cx="2722680" cy="290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marL="283320" indent="-28332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rabicPeriod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567000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lphaLcPeriod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850320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rabicParenR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1042560" indent="-34308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Tenorite"/>
              <a:buAutoNum type="alphaLcParenR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4754880" y="2961000"/>
            <a:ext cx="5516640" cy="3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4754880" y="3324960"/>
            <a:ext cx="5506200" cy="303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43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ftr" idx="5"/>
          </p:nvPr>
        </p:nvSpPr>
        <p:spPr>
          <a:xfrm>
            <a:off x="133344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 type="sldNum" idx="6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1C8B00-7EE4-40C4-B631-7A8C91A6917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3093840" y="0"/>
            <a:ext cx="1746360" cy="3898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477040" y="1671480"/>
            <a:ext cx="5883840" cy="12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-28080" y="-9000"/>
            <a:ext cx="5481720" cy="6876000"/>
          </a:xfrm>
          <a:prstGeom prst="rect">
            <a:avLst/>
          </a:prstGeom>
          <a:noFill/>
          <a:ln w="0">
            <a:noFill/>
          </a:ln>
        </p:spPr>
        <p:txBody>
          <a:bodyPr lIns="274320" rIns="90000" tIns="91440" bIns="9144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Click icon to add picture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ftr" idx="7"/>
          </p:nvPr>
        </p:nvSpPr>
        <p:spPr>
          <a:xfrm>
            <a:off x="82548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8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6FB675-44E7-4005-9353-4F3C9B39944C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body"/>
          </p:nvPr>
        </p:nvSpPr>
        <p:spPr>
          <a:xfrm>
            <a:off x="5453640" y="3660840"/>
            <a:ext cx="5906880" cy="25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52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895320"/>
            <a:ext cx="3247200" cy="191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4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4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838080" y="2813040"/>
            <a:ext cx="3247200" cy="32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52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4216320" y="896040"/>
            <a:ext cx="7137000" cy="511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Click icon to add table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ftr" idx="9"/>
          </p:nvPr>
        </p:nvSpPr>
        <p:spPr>
          <a:xfrm>
            <a:off x="73152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sldNum" idx="10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F885CF-00CB-4A0E-ADB6-77F1529E5285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20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27400" cy="1505520"/>
            <a:chOff x="0" y="0"/>
            <a:chExt cx="2327400" cy="1505520"/>
          </a:xfrm>
        </p:grpSpPr>
        <p:cxnSp>
          <p:nvCxnSpPr>
            <p:cNvPr id="221" name="Straight Connector 14"/>
            <p:cNvCxnSpPr/>
            <p:nvPr/>
          </p:nvCxnSpPr>
          <p:spPr>
            <a:xfrm flipH="1">
              <a:off x="0" y="0"/>
              <a:ext cx="1287720" cy="150588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</p:cxnSp>
        <p:cxnSp>
          <p:nvCxnSpPr>
            <p:cNvPr id="222" name="Straight Connector 15"/>
            <p:cNvCxnSpPr/>
            <p:nvPr/>
          </p:nvCxnSpPr>
          <p:spPr>
            <a:xfrm flipH="1">
              <a:off x="0" y="0"/>
              <a:ext cx="2327760" cy="12009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838080" y="337320"/>
            <a:ext cx="5654880" cy="199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838080" y="2705040"/>
            <a:ext cx="573336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838080" y="3154320"/>
            <a:ext cx="5733360" cy="30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1200240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1657440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2114640" indent="-28584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7887240" y="2705040"/>
            <a:ext cx="394344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7887240" y="3164760"/>
            <a:ext cx="3943440" cy="30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Click to add content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2" marL="567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85968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115200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ftr" idx="11"/>
          </p:nvPr>
        </p:nvSpPr>
        <p:spPr>
          <a:xfrm>
            <a:off x="84384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DF8AA3-C98B-40EB-9D31-19B075B6A50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6" name="Graphic 1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18647" t="318" r="28731" b="73494"/>
          <a:stretch/>
        </p:blipFill>
        <p:spPr>
          <a:xfrm flipH="1" rot="10800000">
            <a:off x="6308280" y="0"/>
            <a:ext cx="5883120" cy="23659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590560" cy="1027800"/>
            <a:chOff x="0" y="0"/>
            <a:chExt cx="2590560" cy="1027800"/>
          </a:xfrm>
        </p:grpSpPr>
        <p:cxnSp>
          <p:nvCxnSpPr>
            <p:cNvPr id="304" name="Straight Connector 10"/>
            <p:cNvCxnSpPr/>
            <p:nvPr/>
          </p:nvCxnSpPr>
          <p:spPr>
            <a:xfrm flipV="1">
              <a:off x="0" y="0"/>
              <a:ext cx="2590920" cy="7621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305" name="Straight Connector 11"/>
            <p:cNvCxnSpPr/>
            <p:nvPr/>
          </p:nvCxnSpPr>
          <p:spPr>
            <a:xfrm flipH="1">
              <a:off x="0" y="0"/>
              <a:ext cx="704880" cy="10281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38080" y="353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CLICK TO add title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838080" y="2111400"/>
            <a:ext cx="10515240" cy="357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Click icon to add table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ftr" idx="13"/>
          </p:nvPr>
        </p:nvSpPr>
        <p:spPr>
          <a:xfrm>
            <a:off x="838080" y="6356520"/>
            <a:ext cx="3818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sldNum" idx="1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8ADDA-1784-407D-AF6C-FBE74EB80060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148" strike="noStrike" cap="all">
                <a:solidFill>
                  <a:schemeClr val="lt1"/>
                </a:solidFill>
                <a:latin typeface="Tenorite"/>
              </a:rPr>
              <a:t>CLICK TO add title</a:t>
            </a: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347" name="Graphic 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3176640" cy="6857640"/>
          </a:xfrm>
          <a:prstGeom prst="rect">
            <a:avLst/>
          </a:prstGeom>
          <a:ln w="0">
            <a:noFill/>
          </a:ln>
        </p:spPr>
      </p:pic>
      <p:sp>
        <p:nvSpPr>
          <p:cNvPr id="348" name="PlaceHolder 2"/>
          <p:cNvSpPr>
            <a:spLocks noGrp="1"/>
          </p:cNvSpPr>
          <p:nvPr>
            <p:ph type="ftr" idx="15"/>
          </p:nvPr>
        </p:nvSpPr>
        <p:spPr>
          <a:xfrm>
            <a:off x="4267080" y="6356520"/>
            <a:ext cx="417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&lt;footer&gt;</a:t>
            </a:r>
            <a:endParaRPr b="0" lang="ro-RO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6"/>
          </p:nvPr>
        </p:nvSpPr>
        <p:spPr>
          <a:xfrm>
            <a:off x="957960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0B9C5B-AA2D-4D9F-A934-0B91B26BB1F0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&lt;number&gt;</a:t>
            </a:fld>
            <a:endParaRPr b="0" lang="ro-RO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Tenorite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enorite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Tenorit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8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98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833520" y="2567880"/>
            <a:ext cx="494136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148" strike="noStrike" cap="all">
                <a:solidFill>
                  <a:schemeClr val="dk1"/>
                </a:solidFill>
                <a:latin typeface="Tenorite"/>
              </a:rPr>
              <a:t>Artificial intelligence in Healthcare</a:t>
            </a:r>
            <a:br>
              <a:rPr sz="3600"/>
            </a:b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94" name="TextBox 2"/>
          <p:cNvSpPr/>
          <p:nvPr/>
        </p:nvSpPr>
        <p:spPr>
          <a:xfrm>
            <a:off x="7133040" y="4879080"/>
            <a:ext cx="242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A bibliometric analysis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3"/>
          <p:cNvSpPr/>
          <p:nvPr/>
        </p:nvSpPr>
        <p:spPr>
          <a:xfrm>
            <a:off x="825840" y="5599080"/>
            <a:ext cx="39153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Paul Carpen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619640" y="-595800"/>
            <a:ext cx="7287840" cy="212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800" spc="148" strike="noStrike" cap="all">
                <a:solidFill>
                  <a:schemeClr val="dk1"/>
                </a:solidFill>
                <a:latin typeface="Tenorite"/>
              </a:rPr>
              <a:t>Background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829800" y="2391480"/>
            <a:ext cx="7957080" cy="39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Artificial Intelligence (AI) is rapidly transforming healthcare by enhancing diagnostic accuracy, predicting patient outcomes, personalizing treatment plans, and streamlining clinical workflows.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 </a:t>
            </a: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From radiology and genomics to hospital management and patient monitoring, AI-powered tools are increasingly integrated into clinical practice and biomedical research.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 </a:t>
            </a: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This analysis aims to apply </a:t>
            </a:r>
            <a:r>
              <a:rPr b="1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bibliometric and scientometric methods</a:t>
            </a: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 in order to identify </a:t>
            </a:r>
            <a:r>
              <a:rPr b="1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influential authors, co-citations, institutions, and publications </a:t>
            </a: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in this field of research.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0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E3226-687A-4AD1-86A8-59C4770E37D0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2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3759120" y="611280"/>
            <a:ext cx="8429040" cy="81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800" spc="148" strike="noStrike" cap="all">
                <a:solidFill>
                  <a:schemeClr val="dk1"/>
                </a:solidFill>
                <a:latin typeface="Tenorite"/>
              </a:rPr>
              <a:t>Selection tools and criteria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1854360" y="2606760"/>
            <a:ext cx="3924000" cy="46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Database used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1991880" y="3103560"/>
            <a:ext cx="1287000" cy="29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 fontScale="71666"/>
          </a:bodyPr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SCOPUS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/>
          </p:nvPr>
        </p:nvSpPr>
        <p:spPr>
          <a:xfrm>
            <a:off x="5145480" y="2606760"/>
            <a:ext cx="2387520" cy="32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49" strike="noStrike">
                <a:solidFill>
                  <a:schemeClr val="dk1"/>
                </a:solidFill>
                <a:latin typeface="Tenorite"/>
              </a:rPr>
              <a:t>Search string used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/>
          </p:nvPr>
        </p:nvSpPr>
        <p:spPr>
          <a:xfrm>
            <a:off x="4425840" y="3082320"/>
            <a:ext cx="3943440" cy="64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rmAutofit/>
          </a:bodyPr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"artificial AND intelligence AND in AND healthcare"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04" name="PlaceHolder 6"/>
          <p:cNvSpPr>
            <a:spLocks noGrp="1"/>
          </p:cNvSpPr>
          <p:nvPr>
            <p:ph type="sldNum" idx="21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4319DC-11D8-4850-B131-17E511AF0B2E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TextBox 2"/>
          <p:cNvSpPr/>
          <p:nvPr/>
        </p:nvSpPr>
        <p:spPr>
          <a:xfrm>
            <a:off x="8953560" y="2561040"/>
            <a:ext cx="249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Tenorite"/>
              </a:rPr>
              <a:t>Time period covered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3"/>
          <p:cNvSpPr/>
          <p:nvPr/>
        </p:nvSpPr>
        <p:spPr>
          <a:xfrm>
            <a:off x="9069840" y="3026880"/>
            <a:ext cx="280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2024-2025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4"/>
          <p:cNvSpPr/>
          <p:nvPr/>
        </p:nvSpPr>
        <p:spPr>
          <a:xfrm>
            <a:off x="2635200" y="4550760"/>
            <a:ext cx="358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Tenorite"/>
              </a:rPr>
              <a:t>Languages included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5"/>
          <p:cNvSpPr/>
          <p:nvPr/>
        </p:nvSpPr>
        <p:spPr>
          <a:xfrm>
            <a:off x="3048120" y="4921200"/>
            <a:ext cx="329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English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6"/>
          <p:cNvSpPr/>
          <p:nvPr/>
        </p:nvSpPr>
        <p:spPr>
          <a:xfrm>
            <a:off x="6847560" y="4550760"/>
            <a:ext cx="312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Tenorite"/>
              </a:rPr>
              <a:t>Number of articles selected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8"/>
          <p:cNvSpPr/>
          <p:nvPr/>
        </p:nvSpPr>
        <p:spPr>
          <a:xfrm>
            <a:off x="7291800" y="4921200"/>
            <a:ext cx="267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n = 5000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Content Placeholder 7" descr="A diagram of a flowchart&#10;&#10;AI-generated content may be incorrect."/>
          <p:cNvPicPr/>
          <p:nvPr/>
        </p:nvPicPr>
        <p:blipFill>
          <a:blip r:embed="rId1"/>
          <a:stretch/>
        </p:blipFill>
        <p:spPr>
          <a:xfrm>
            <a:off x="2552400" y="2520"/>
            <a:ext cx="7086960" cy="68533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7EC8061-A662-4156-9044-CF949AF43BC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917640" y="-65520"/>
            <a:ext cx="9952920" cy="178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DataBase preprocessing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Num" idx="22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C1F47D-1525-4D20-8A1A-C26C4001C36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14" name="Picture 17" descr="A computer screen shot of a code&#10;&#10;AI-generated content may be incorrect."/>
          <p:cNvPicPr/>
          <p:nvPr/>
        </p:nvPicPr>
        <p:blipFill>
          <a:blip r:embed="rId1"/>
          <a:stretch/>
        </p:blipFill>
        <p:spPr>
          <a:xfrm>
            <a:off x="3581280" y="2309400"/>
            <a:ext cx="5028840" cy="390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6693480" y="1725120"/>
            <a:ext cx="5883840" cy="12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pc="148" strike="noStrike" cap="all">
                <a:solidFill>
                  <a:schemeClr val="dk1"/>
                </a:solidFill>
                <a:latin typeface="Tenorite"/>
              </a:rPr>
              <a:t>Bibliometric analysis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sldNum" idx="23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0B1671-06E0-4D86-9E9C-56B933C19039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/>
          </p:nvPr>
        </p:nvSpPr>
        <p:spPr>
          <a:xfrm>
            <a:off x="633600" y="5994000"/>
            <a:ext cx="5906880" cy="253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Autofit/>
          </a:bodyPr>
          <a:p>
            <a:pPr lvl="1" marL="28332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49" strike="noStrike">
                <a:solidFill>
                  <a:schemeClr val="dk1"/>
                </a:solidFill>
                <a:latin typeface="Tenorite"/>
                <a:ea typeface="Tenorite"/>
              </a:rPr>
              <a:t>h-index: 1 (assuming 1 citation per paper)</a:t>
            </a: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marL="28332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enorite"/>
            </a:endParaRPr>
          </a:p>
        </p:txBody>
      </p:sp>
      <p:cxnSp>
        <p:nvCxnSpPr>
          <p:cNvPr id="418" name="Straight 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876240"/>
            <a:ext cx="5246280" cy="17100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419" name="Picture 9" descr="A graph with orange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346320" y="1918800"/>
            <a:ext cx="5750280" cy="3047040"/>
          </a:xfrm>
          <a:prstGeom prst="rect">
            <a:avLst/>
          </a:prstGeom>
          <a:ln w="0">
            <a:noFill/>
          </a:ln>
        </p:spPr>
      </p:pic>
      <p:sp>
        <p:nvSpPr>
          <p:cNvPr id="420" name="TextBox 11"/>
          <p:cNvSpPr/>
          <p:nvPr/>
        </p:nvSpPr>
        <p:spPr>
          <a:xfrm>
            <a:off x="1077120" y="5120640"/>
            <a:ext cx="501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enorite"/>
              </a:rPr>
              <a:t>Most authors have a single published paper in this subject area</a:t>
            </a: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Num" idx="24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EAB6A6-6AE8-410E-8144-C2060889A1A2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2" name="Picture 11" descr="A graph of keywords&#10;&#10;AI-generated content may be incorrect."/>
          <p:cNvPicPr/>
          <p:nvPr/>
        </p:nvPicPr>
        <p:blipFill>
          <a:blip r:embed="rId1"/>
          <a:stretch/>
        </p:blipFill>
        <p:spPr>
          <a:xfrm>
            <a:off x="1656360" y="809280"/>
            <a:ext cx="8878680" cy="523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84E4AC-C19A-4791-8289-CAE923A9676C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4" name="Picture 13" descr="A screenshot of a computer code&#10;&#10;AI-generated content may be incorrect."/>
          <p:cNvPicPr/>
          <p:nvPr/>
        </p:nvPicPr>
        <p:blipFill>
          <a:blip r:embed="rId1"/>
          <a:stretch/>
        </p:blipFill>
        <p:spPr>
          <a:xfrm>
            <a:off x="909360" y="2718000"/>
            <a:ext cx="5557320" cy="3646440"/>
          </a:xfrm>
          <a:prstGeom prst="rect">
            <a:avLst/>
          </a:prstGeom>
          <a:ln w="0">
            <a:noFill/>
          </a:ln>
        </p:spPr>
      </p:pic>
      <p:sp>
        <p:nvSpPr>
          <p:cNvPr id="425" name="TextBox 14"/>
          <p:cNvSpPr/>
          <p:nvPr/>
        </p:nvSpPr>
        <p:spPr>
          <a:xfrm flipV="1" rot="10800000">
            <a:off x="579600" y="734040"/>
            <a:ext cx="571968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Tenorite"/>
              </a:rPr>
              <a:t>TEXT MINING PROCESS</a:t>
            </a: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6" name="Picture 15" descr="A screenshot of a computer code&#10;&#10;AI-generated content may be incorrect."/>
          <p:cNvPicPr/>
          <p:nvPr/>
        </p:nvPicPr>
        <p:blipFill>
          <a:blip r:embed="rId2"/>
          <a:stretch/>
        </p:blipFill>
        <p:spPr>
          <a:xfrm>
            <a:off x="7151760" y="2895840"/>
            <a:ext cx="4401000" cy="32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Num" idx="26"/>
          </p:nvPr>
        </p:nvSpPr>
        <p:spPr>
          <a:xfrm>
            <a:off x="1037340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8759DB-A445-49C4-A645-A950FF01628C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8" name="Picture 6" descr="A group of words on a white background&#10;&#10;AI-generated content may be incorrect."/>
          <p:cNvPicPr/>
          <p:nvPr/>
        </p:nvPicPr>
        <p:blipFill>
          <a:blip r:embed="rId1"/>
          <a:stretch/>
        </p:blipFill>
        <p:spPr>
          <a:xfrm>
            <a:off x="1692000" y="661320"/>
            <a:ext cx="8817840" cy="5535000"/>
          </a:xfrm>
          <a:prstGeom prst="rect">
            <a:avLst/>
          </a:prstGeom>
          <a:ln w="0">
            <a:noFill/>
          </a:ln>
        </p:spPr>
      </p:pic>
      <p:sp>
        <p:nvSpPr>
          <p:cNvPr id="429" name="TextBox 9"/>
          <p:cNvSpPr/>
          <p:nvPr/>
        </p:nvSpPr>
        <p:spPr>
          <a:xfrm>
            <a:off x="3759120" y="934560"/>
            <a:ext cx="2204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Healthcare Ethics 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11"/>
          <p:cNvSpPr/>
          <p:nvPr/>
        </p:nvSpPr>
        <p:spPr>
          <a:xfrm>
            <a:off x="5303520" y="822960"/>
            <a:ext cx="21128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Healthcare Systems and IoT Technologies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13"/>
          <p:cNvSpPr/>
          <p:nvPr/>
        </p:nvSpPr>
        <p:spPr>
          <a:xfrm>
            <a:off x="7416720" y="822960"/>
            <a:ext cx="28443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AI in Medical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Communication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14"/>
          <p:cNvSpPr/>
          <p:nvPr/>
        </p:nvSpPr>
        <p:spPr>
          <a:xfrm>
            <a:off x="8910360" y="1036440"/>
            <a:ext cx="17877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Systematic Reviews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5"/>
          <p:cNvSpPr/>
          <p:nvPr/>
        </p:nvSpPr>
        <p:spPr>
          <a:xfrm>
            <a:off x="2225160" y="3616920"/>
            <a:ext cx="1168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Healthcare Education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16"/>
          <p:cNvSpPr/>
          <p:nvPr/>
        </p:nvSpPr>
        <p:spPr>
          <a:xfrm>
            <a:off x="3921840" y="3434040"/>
            <a:ext cx="113760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Healthcare Technology Innovations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7"/>
          <p:cNvSpPr/>
          <p:nvPr/>
        </p:nvSpPr>
        <p:spPr>
          <a:xfrm>
            <a:off x="5537160" y="3434040"/>
            <a:ext cx="179784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Treatment and Disease Diagnosis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18"/>
          <p:cNvSpPr/>
          <p:nvPr/>
        </p:nvSpPr>
        <p:spPr>
          <a:xfrm>
            <a:off x="7335360" y="3322440"/>
            <a:ext cx="156420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Machine Learning Applications in Healthcare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20"/>
          <p:cNvSpPr/>
          <p:nvPr/>
        </p:nvSpPr>
        <p:spPr>
          <a:xfrm>
            <a:off x="9174600" y="3139560"/>
            <a:ext cx="124920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Predictive Modeling and Performance in Healthcare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8"/>
          <p:cNvSpPr/>
          <p:nvPr/>
        </p:nvSpPr>
        <p:spPr>
          <a:xfrm>
            <a:off x="1855800" y="813960"/>
            <a:ext cx="20620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enorite"/>
                <a:ea typeface="Tenorite"/>
              </a:rPr>
              <a:t>Machine Learning Models and Methods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Num" idx="27"/>
          </p:nvPr>
        </p:nvSpPr>
        <p:spPr>
          <a:xfrm>
            <a:off x="957960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5223C9-F91A-4FB1-989F-6AB848035705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enorite"/>
              </a:rPr>
              <a:t>3</a:t>
            </a:fld>
            <a:endParaRPr b="0" lang="ro-RO" sz="9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40" name="Picture 13" descr="A graph of different colored bars&#10;&#10;AI-generated content may be incorrect."/>
          <p:cNvPicPr/>
          <p:nvPr/>
        </p:nvPicPr>
        <p:blipFill>
          <a:blip r:embed="rId1"/>
          <a:stretch/>
        </p:blipFill>
        <p:spPr>
          <a:xfrm>
            <a:off x="2077920" y="824040"/>
            <a:ext cx="8238600" cy="520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3839760" y="658440"/>
            <a:ext cx="4179240" cy="80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148" strike="noStrike" cap="all">
                <a:solidFill>
                  <a:schemeClr val="lt1"/>
                </a:solidFill>
                <a:latin typeface="Tenorite"/>
              </a:rPr>
              <a:t>Key insights</a:t>
            </a: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ubTitle"/>
          </p:nvPr>
        </p:nvSpPr>
        <p:spPr>
          <a:xfrm>
            <a:off x="3607560" y="2373840"/>
            <a:ext cx="7747560" cy="37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 lnSpcReduction="10000"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This field is heavily centered on model building and evaluation, with high-frequency keywords like </a:t>
            </a:r>
            <a:r>
              <a:rPr b="0" i="1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“machine learning”, “deep learning” and “accuracy”.</a:t>
            </a:r>
            <a:r>
              <a:rPr b="0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 Topic modeling confirms this with dominant terms related to image analysis, detection, and datasets. This reflects a primary focus on developing and testing AI algorithms, particularly for diagnostic applications.</a:t>
            </a:r>
            <a:endParaRPr b="0" lang="ro-RO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Topics also reveal emerging themes around </a:t>
            </a:r>
            <a:r>
              <a:rPr b="0" i="1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ethics, patient care, healthcare systems,</a:t>
            </a:r>
            <a:r>
              <a:rPr b="0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 and </a:t>
            </a:r>
            <a:r>
              <a:rPr b="0" i="1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clinical practice. Our </a:t>
            </a:r>
            <a:r>
              <a:rPr b="0" lang="en-US" sz="1600" spc="49" strike="noStrike">
                <a:solidFill>
                  <a:schemeClr val="lt1"/>
                </a:solidFill>
                <a:latin typeface="Tenorite"/>
                <a:ea typeface="Tenorite"/>
              </a:rPr>
              <a:t>analysis suggests that researchers are increasingly concerned with how AI could be responsibly and effectively embedded into real-world healthcare environments.</a:t>
            </a:r>
            <a:endParaRPr b="0" lang="ro-RO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6E3E6BF5-19CF-47F9-B35E-340959B1A8A6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148" strike="noStrike" cap="all">
                <a:solidFill>
                  <a:schemeClr val="lt1"/>
                </a:solidFill>
                <a:latin typeface="Tenorite"/>
              </a:rPr>
              <a:t>Thank you!</a:t>
            </a: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subTitle"/>
          </p:nvPr>
        </p:nvSpPr>
        <p:spPr>
          <a:xfrm>
            <a:off x="4267080" y="3238200"/>
            <a:ext cx="4179240" cy="284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o-RO" sz="1800" spc="49" strike="noStrike">
                <a:solidFill>
                  <a:schemeClr val="lt1"/>
                </a:solidFill>
                <a:latin typeface="Tenorite"/>
              </a:rPr>
              <a:t>Click to add subtitle</a:t>
            </a:r>
            <a:endParaRPr b="0" lang="ro-RO" sz="1800" spc="49" strike="noStrike">
              <a:solidFill>
                <a:schemeClr val="lt1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4D5DAEEC-A61F-42D9-AF19-401104E02BD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LibreOffice/7.6.2.1$Windows_X86_64 LibreOffice_project/56f7684011345957bbf33a7ee678afaf4d2ba333</Application>
  <AppVersion>15.0000</AppVersion>
  <Words>442</Words>
  <Paragraphs>137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2025-06-07T12:02:50Z</dcterms:created>
  <dc:creator/>
  <dc:description/>
  <dc:language>ro-RO</dc:language>
  <cp:lastModifiedBy/>
  <dcterms:modified xsi:type="dcterms:W3CDTF">2026-03-12T18:03:27Z</dcterms:modified>
  <cp:revision>341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9</vt:i4>
  </property>
  <property fmtid="{D5CDD505-2E9C-101B-9397-08002B2CF9AE}" pid="5" name="PresentationFormat">
    <vt:lpwstr>Widescreen</vt:lpwstr>
  </property>
  <property fmtid="{D5CDD505-2E9C-101B-9397-08002B2CF9AE}" pid="6" name="Slides">
    <vt:i4>12</vt:i4>
  </property>
</Properties>
</file>